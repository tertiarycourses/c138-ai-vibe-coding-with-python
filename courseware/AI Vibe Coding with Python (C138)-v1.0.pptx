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5" r:id="rId296"/>
    <p:sldId id="546" r:id="rId297"/>
    <p:sldId id="549" r:id="rId300"/>
    <p:sldId id="550" r:id="rId3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slide" Target="slides/slide109.xml"/><Relationship Id="rId121" Type="http://schemas.openxmlformats.org/officeDocument/2006/relationships/slide" Target="slides/slide110.xml"/><Relationship Id="rId122" Type="http://schemas.openxmlformats.org/officeDocument/2006/relationships/slide" Target="slides/slide111.xml"/><Relationship Id="rId123" Type="http://schemas.openxmlformats.org/officeDocument/2006/relationships/slide" Target="slides/slide112.xml"/><Relationship Id="rId124" Type="http://schemas.openxmlformats.org/officeDocument/2006/relationships/slide" Target="slides/slide113.xml"/><Relationship Id="rId125" Type="http://schemas.openxmlformats.org/officeDocument/2006/relationships/slide" Target="slides/slide114.xml"/><Relationship Id="rId126" Type="http://schemas.openxmlformats.org/officeDocument/2006/relationships/slide" Target="slides/slide115.xml"/><Relationship Id="rId127" Type="http://schemas.openxmlformats.org/officeDocument/2006/relationships/slide" Target="slides/slide116.xml"/><Relationship Id="rId128" Type="http://schemas.openxmlformats.org/officeDocument/2006/relationships/slide" Target="slides/slide117.xml"/><Relationship Id="rId129" Type="http://schemas.openxmlformats.org/officeDocument/2006/relationships/slide" Target="slides/slide118.xml"/><Relationship Id="rId130" Type="http://schemas.openxmlformats.org/officeDocument/2006/relationships/slide" Target="slides/slide119.xml"/><Relationship Id="rId131" Type="http://schemas.openxmlformats.org/officeDocument/2006/relationships/slide" Target="slides/slide120.xml"/><Relationship Id="rId132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2" Type="http://schemas.openxmlformats.org/officeDocument/2006/relationships/slide" Target="slides/slide131.xml"/><Relationship Id="rId143" Type="http://schemas.openxmlformats.org/officeDocument/2006/relationships/slide" Target="slides/slide132.xml"/><Relationship Id="rId144" Type="http://schemas.openxmlformats.org/officeDocument/2006/relationships/slide" Target="slides/slide133.xml"/><Relationship Id="rId145" Type="http://schemas.openxmlformats.org/officeDocument/2006/relationships/slide" Target="slides/slide134.xml"/><Relationship Id="rId146" Type="http://schemas.openxmlformats.org/officeDocument/2006/relationships/slide" Target="slides/slide135.xml"/><Relationship Id="rId147" Type="http://schemas.openxmlformats.org/officeDocument/2006/relationships/slide" Target="slides/slide136.xml"/><Relationship Id="rId148" Type="http://schemas.openxmlformats.org/officeDocument/2006/relationships/slide" Target="slides/slide137.xml"/><Relationship Id="rId149" Type="http://schemas.openxmlformats.org/officeDocument/2006/relationships/slide" Target="slides/slide138.xml"/><Relationship Id="rId150" Type="http://schemas.openxmlformats.org/officeDocument/2006/relationships/slide" Target="slides/slide139.xml"/><Relationship Id="rId151" Type="http://schemas.openxmlformats.org/officeDocument/2006/relationships/slide" Target="slides/slide140.xml"/><Relationship Id="rId152" Type="http://schemas.openxmlformats.org/officeDocument/2006/relationships/slide" Target="slides/slide141.xml"/><Relationship Id="rId153" Type="http://schemas.openxmlformats.org/officeDocument/2006/relationships/slide" Target="slides/slide142.xml"/><Relationship Id="rId154" Type="http://schemas.openxmlformats.org/officeDocument/2006/relationships/slide" Target="slides/slide143.xml"/><Relationship Id="rId155" Type="http://schemas.openxmlformats.org/officeDocument/2006/relationships/slide" Target="slides/slide144.xml"/><Relationship Id="rId156" Type="http://schemas.openxmlformats.org/officeDocument/2006/relationships/slide" Target="slides/slide145.xml"/><Relationship Id="rId157" Type="http://schemas.openxmlformats.org/officeDocument/2006/relationships/slide" Target="slides/slide146.xml"/><Relationship Id="rId158" Type="http://schemas.openxmlformats.org/officeDocument/2006/relationships/slide" Target="slides/slide147.xml"/><Relationship Id="rId159" Type="http://schemas.openxmlformats.org/officeDocument/2006/relationships/slide" Target="slides/slide148.xml"/><Relationship Id="rId160" Type="http://schemas.openxmlformats.org/officeDocument/2006/relationships/slide" Target="slides/slide149.xml"/><Relationship Id="rId161" Type="http://schemas.openxmlformats.org/officeDocument/2006/relationships/slide" Target="slides/slide150.xml"/><Relationship Id="rId162" Type="http://schemas.openxmlformats.org/officeDocument/2006/relationships/slide" Target="slides/slide151.xml"/><Relationship Id="rId163" Type="http://schemas.openxmlformats.org/officeDocument/2006/relationships/slide" Target="slides/slide152.xml"/><Relationship Id="rId164" Type="http://schemas.openxmlformats.org/officeDocument/2006/relationships/slide" Target="slides/slide153.xml"/><Relationship Id="rId165" Type="http://schemas.openxmlformats.org/officeDocument/2006/relationships/slide" Target="slides/slide154.xml"/><Relationship Id="rId166" Type="http://schemas.openxmlformats.org/officeDocument/2006/relationships/slide" Target="slides/slide155.xml"/><Relationship Id="rId167" Type="http://schemas.openxmlformats.org/officeDocument/2006/relationships/slide" Target="slides/slide156.xml"/><Relationship Id="rId168" Type="http://schemas.openxmlformats.org/officeDocument/2006/relationships/slide" Target="slides/slide157.xml"/><Relationship Id="rId169" Type="http://schemas.openxmlformats.org/officeDocument/2006/relationships/slide" Target="slides/slide158.xml"/><Relationship Id="rId170" Type="http://schemas.openxmlformats.org/officeDocument/2006/relationships/slide" Target="slides/slide159.xml"/><Relationship Id="rId171" Type="http://schemas.openxmlformats.org/officeDocument/2006/relationships/slide" Target="slides/slide160.xml"/><Relationship Id="rId172" Type="http://schemas.openxmlformats.org/officeDocument/2006/relationships/slide" Target="slides/slide161.xml"/><Relationship Id="rId173" Type="http://schemas.openxmlformats.org/officeDocument/2006/relationships/slide" Target="slides/slide162.xml"/><Relationship Id="rId174" Type="http://schemas.openxmlformats.org/officeDocument/2006/relationships/slide" Target="slides/slide163.xml"/><Relationship Id="rId175" Type="http://schemas.openxmlformats.org/officeDocument/2006/relationships/slide" Target="slides/slide164.xml"/><Relationship Id="rId176" Type="http://schemas.openxmlformats.org/officeDocument/2006/relationships/slide" Target="slides/slide165.xml"/><Relationship Id="rId177" Type="http://schemas.openxmlformats.org/officeDocument/2006/relationships/slide" Target="slides/slide166.xml"/><Relationship Id="rId178" Type="http://schemas.openxmlformats.org/officeDocument/2006/relationships/slide" Target="slides/slide167.xml"/><Relationship Id="rId179" Type="http://schemas.openxmlformats.org/officeDocument/2006/relationships/slide" Target="slides/slide168.xml"/><Relationship Id="rId180" Type="http://schemas.openxmlformats.org/officeDocument/2006/relationships/slide" Target="slides/slide169.xml"/><Relationship Id="rId181" Type="http://schemas.openxmlformats.org/officeDocument/2006/relationships/slide" Target="slides/slide170.xml"/><Relationship Id="rId182" Type="http://schemas.openxmlformats.org/officeDocument/2006/relationships/slide" Target="slides/slide171.xml"/><Relationship Id="rId183" Type="http://schemas.openxmlformats.org/officeDocument/2006/relationships/slide" Target="slides/slide172.xml"/><Relationship Id="rId184" Type="http://schemas.openxmlformats.org/officeDocument/2006/relationships/slide" Target="slides/slide173.xml"/><Relationship Id="rId185" Type="http://schemas.openxmlformats.org/officeDocument/2006/relationships/slide" Target="slides/slide174.xml"/><Relationship Id="rId186" Type="http://schemas.openxmlformats.org/officeDocument/2006/relationships/slide" Target="slides/slide175.xml"/><Relationship Id="rId187" Type="http://schemas.openxmlformats.org/officeDocument/2006/relationships/slide" Target="slides/slide176.xml"/><Relationship Id="rId188" Type="http://schemas.openxmlformats.org/officeDocument/2006/relationships/slide" Target="slides/slide177.xml"/><Relationship Id="rId189" Type="http://schemas.openxmlformats.org/officeDocument/2006/relationships/slide" Target="slides/slide178.xml"/><Relationship Id="rId190" Type="http://schemas.openxmlformats.org/officeDocument/2006/relationships/slide" Target="slides/slide179.xml"/><Relationship Id="rId191" Type="http://schemas.openxmlformats.org/officeDocument/2006/relationships/slide" Target="slides/slide180.xml"/><Relationship Id="rId192" Type="http://schemas.openxmlformats.org/officeDocument/2006/relationships/slide" Target="slides/slide181.xml"/><Relationship Id="rId193" Type="http://schemas.openxmlformats.org/officeDocument/2006/relationships/slide" Target="slides/slide182.xml"/><Relationship Id="rId194" Type="http://schemas.openxmlformats.org/officeDocument/2006/relationships/slide" Target="slides/slide183.xml"/><Relationship Id="rId195" Type="http://schemas.openxmlformats.org/officeDocument/2006/relationships/slide" Target="slides/slide184.xml"/><Relationship Id="rId196" Type="http://schemas.openxmlformats.org/officeDocument/2006/relationships/slide" Target="slides/slide185.xml"/><Relationship Id="rId197" Type="http://schemas.openxmlformats.org/officeDocument/2006/relationships/slide" Target="slides/slide186.xml"/><Relationship Id="rId198" Type="http://schemas.openxmlformats.org/officeDocument/2006/relationships/slide" Target="slides/slide187.xml"/><Relationship Id="rId199" Type="http://schemas.openxmlformats.org/officeDocument/2006/relationships/slide" Target="slides/slide188.xml"/><Relationship Id="rId200" Type="http://schemas.openxmlformats.org/officeDocument/2006/relationships/slide" Target="slides/slide189.xml"/><Relationship Id="rId201" Type="http://schemas.openxmlformats.org/officeDocument/2006/relationships/slide" Target="slides/slide190.xml"/><Relationship Id="rId202" Type="http://schemas.openxmlformats.org/officeDocument/2006/relationships/slide" Target="slides/slide191.xml"/><Relationship Id="rId203" Type="http://schemas.openxmlformats.org/officeDocument/2006/relationships/slide" Target="slides/slide192.xml"/><Relationship Id="rId204" Type="http://schemas.openxmlformats.org/officeDocument/2006/relationships/slide" Target="slides/slide193.xml"/><Relationship Id="rId205" Type="http://schemas.openxmlformats.org/officeDocument/2006/relationships/slide" Target="slides/slide194.xml"/><Relationship Id="rId206" Type="http://schemas.openxmlformats.org/officeDocument/2006/relationships/slide" Target="slides/slide195.xml"/><Relationship Id="rId207" Type="http://schemas.openxmlformats.org/officeDocument/2006/relationships/slide" Target="slides/slide196.xml"/><Relationship Id="rId208" Type="http://schemas.openxmlformats.org/officeDocument/2006/relationships/slide" Target="slides/slide197.xml"/><Relationship Id="rId209" Type="http://schemas.openxmlformats.org/officeDocument/2006/relationships/slide" Target="slides/slide198.xml"/><Relationship Id="rId210" Type="http://schemas.openxmlformats.org/officeDocument/2006/relationships/slide" Target="slides/slide199.xml"/><Relationship Id="rId211" Type="http://schemas.openxmlformats.org/officeDocument/2006/relationships/slide" Target="slides/slide200.xml"/><Relationship Id="rId212" Type="http://schemas.openxmlformats.org/officeDocument/2006/relationships/slide" Target="slides/slide201.xml"/><Relationship Id="rId213" Type="http://schemas.openxmlformats.org/officeDocument/2006/relationships/slide" Target="slides/slide202.xml"/><Relationship Id="rId214" Type="http://schemas.openxmlformats.org/officeDocument/2006/relationships/slide" Target="slides/slide203.xml"/><Relationship Id="rId215" Type="http://schemas.openxmlformats.org/officeDocument/2006/relationships/slide" Target="slides/slide204.xml"/><Relationship Id="rId216" Type="http://schemas.openxmlformats.org/officeDocument/2006/relationships/slide" Target="slides/slide205.xml"/><Relationship Id="rId217" Type="http://schemas.openxmlformats.org/officeDocument/2006/relationships/slide" Target="slides/slide206.xml"/><Relationship Id="rId218" Type="http://schemas.openxmlformats.org/officeDocument/2006/relationships/slide" Target="slides/slide207.xml"/><Relationship Id="rId219" Type="http://schemas.openxmlformats.org/officeDocument/2006/relationships/slide" Target="slides/slide208.xml"/><Relationship Id="rId220" Type="http://schemas.openxmlformats.org/officeDocument/2006/relationships/slide" Target="slides/slide209.xml"/><Relationship Id="rId221" Type="http://schemas.openxmlformats.org/officeDocument/2006/relationships/slide" Target="slides/slide210.xml"/><Relationship Id="rId222" Type="http://schemas.openxmlformats.org/officeDocument/2006/relationships/slide" Target="slides/slide211.xml"/><Relationship Id="rId223" Type="http://schemas.openxmlformats.org/officeDocument/2006/relationships/slide" Target="slides/slide212.xml"/><Relationship Id="rId224" Type="http://schemas.openxmlformats.org/officeDocument/2006/relationships/slide" Target="slides/slide213.xml"/><Relationship Id="rId225" Type="http://schemas.openxmlformats.org/officeDocument/2006/relationships/slide" Target="slides/slide214.xml"/><Relationship Id="rId226" Type="http://schemas.openxmlformats.org/officeDocument/2006/relationships/slide" Target="slides/slide215.xml"/><Relationship Id="rId227" Type="http://schemas.openxmlformats.org/officeDocument/2006/relationships/slide" Target="slides/slide216.xml"/><Relationship Id="rId228" Type="http://schemas.openxmlformats.org/officeDocument/2006/relationships/slide" Target="slides/slide217.xml"/><Relationship Id="rId229" Type="http://schemas.openxmlformats.org/officeDocument/2006/relationships/slide" Target="slides/slide218.xml"/><Relationship Id="rId230" Type="http://schemas.openxmlformats.org/officeDocument/2006/relationships/slide" Target="slides/slide219.xml"/><Relationship Id="rId231" Type="http://schemas.openxmlformats.org/officeDocument/2006/relationships/slide" Target="slides/slide220.xml"/><Relationship Id="rId232" Type="http://schemas.openxmlformats.org/officeDocument/2006/relationships/slide" Target="slides/slide221.xml"/><Relationship Id="rId233" Type="http://schemas.openxmlformats.org/officeDocument/2006/relationships/slide" Target="slides/slide222.xml"/><Relationship Id="rId234" Type="http://schemas.openxmlformats.org/officeDocument/2006/relationships/slide" Target="slides/slide223.xml"/><Relationship Id="rId235" Type="http://schemas.openxmlformats.org/officeDocument/2006/relationships/slide" Target="slides/slide224.xml"/><Relationship Id="rId236" Type="http://schemas.openxmlformats.org/officeDocument/2006/relationships/slide" Target="slides/slide225.xml"/><Relationship Id="rId237" Type="http://schemas.openxmlformats.org/officeDocument/2006/relationships/slide" Target="slides/slide226.xml"/><Relationship Id="rId238" Type="http://schemas.openxmlformats.org/officeDocument/2006/relationships/slide" Target="slides/slide227.xml"/><Relationship Id="rId239" Type="http://schemas.openxmlformats.org/officeDocument/2006/relationships/slide" Target="slides/slide228.xml"/><Relationship Id="rId240" Type="http://schemas.openxmlformats.org/officeDocument/2006/relationships/slide" Target="slides/slide229.xml"/><Relationship Id="rId241" Type="http://schemas.openxmlformats.org/officeDocument/2006/relationships/slide" Target="slides/slide230.xml"/><Relationship Id="rId242" Type="http://schemas.openxmlformats.org/officeDocument/2006/relationships/slide" Target="slides/slide231.xml"/><Relationship Id="rId243" Type="http://schemas.openxmlformats.org/officeDocument/2006/relationships/slide" Target="slides/slide232.xml"/><Relationship Id="rId244" Type="http://schemas.openxmlformats.org/officeDocument/2006/relationships/slide" Target="slides/slide233.xml"/><Relationship Id="rId245" Type="http://schemas.openxmlformats.org/officeDocument/2006/relationships/slide" Target="slides/slide234.xml"/><Relationship Id="rId246" Type="http://schemas.openxmlformats.org/officeDocument/2006/relationships/slide" Target="slides/slide235.xml"/><Relationship Id="rId247" Type="http://schemas.openxmlformats.org/officeDocument/2006/relationships/slide" Target="slides/slide236.xml"/><Relationship Id="rId248" Type="http://schemas.openxmlformats.org/officeDocument/2006/relationships/slide" Target="slides/slide237.xml"/><Relationship Id="rId249" Type="http://schemas.openxmlformats.org/officeDocument/2006/relationships/slide" Target="slides/slide238.xml"/><Relationship Id="rId250" Type="http://schemas.openxmlformats.org/officeDocument/2006/relationships/slide" Target="slides/slide239.xml"/><Relationship Id="rId251" Type="http://schemas.openxmlformats.org/officeDocument/2006/relationships/slide" Target="slides/slide240.xml"/><Relationship Id="rId252" Type="http://schemas.openxmlformats.org/officeDocument/2006/relationships/slide" Target="slides/slide241.xml"/><Relationship Id="rId253" Type="http://schemas.openxmlformats.org/officeDocument/2006/relationships/slide" Target="slides/slide242.xml"/><Relationship Id="rId254" Type="http://schemas.openxmlformats.org/officeDocument/2006/relationships/slide" Target="slides/slide243.xml"/><Relationship Id="rId255" Type="http://schemas.openxmlformats.org/officeDocument/2006/relationships/slide" Target="slides/slide244.xml"/><Relationship Id="rId256" Type="http://schemas.openxmlformats.org/officeDocument/2006/relationships/slide" Target="slides/slide245.xml"/><Relationship Id="rId257" Type="http://schemas.openxmlformats.org/officeDocument/2006/relationships/slide" Target="slides/slide246.xml"/><Relationship Id="rId258" Type="http://schemas.openxmlformats.org/officeDocument/2006/relationships/slide" Target="slides/slide247.xml"/><Relationship Id="rId259" Type="http://schemas.openxmlformats.org/officeDocument/2006/relationships/slide" Target="slides/slide248.xml"/><Relationship Id="rId260" Type="http://schemas.openxmlformats.org/officeDocument/2006/relationships/slide" Target="slides/slide249.xml"/><Relationship Id="rId261" Type="http://schemas.openxmlformats.org/officeDocument/2006/relationships/slide" Target="slides/slide250.xml"/><Relationship Id="rId262" Type="http://schemas.openxmlformats.org/officeDocument/2006/relationships/slide" Target="slides/slide251.xml"/><Relationship Id="rId263" Type="http://schemas.openxmlformats.org/officeDocument/2006/relationships/slide" Target="slides/slide252.xml"/><Relationship Id="rId264" Type="http://schemas.openxmlformats.org/officeDocument/2006/relationships/slide" Target="slides/slide253.xml"/><Relationship Id="rId265" Type="http://schemas.openxmlformats.org/officeDocument/2006/relationships/slide" Target="slides/slide254.xml"/><Relationship Id="rId266" Type="http://schemas.openxmlformats.org/officeDocument/2006/relationships/slide" Target="slides/slide255.xml"/><Relationship Id="rId267" Type="http://schemas.openxmlformats.org/officeDocument/2006/relationships/slide" Target="slides/slide256.xml"/><Relationship Id="rId268" Type="http://schemas.openxmlformats.org/officeDocument/2006/relationships/slide" Target="slides/slide257.xml"/><Relationship Id="rId269" Type="http://schemas.openxmlformats.org/officeDocument/2006/relationships/slide" Target="slides/slide258.xml"/><Relationship Id="rId270" Type="http://schemas.openxmlformats.org/officeDocument/2006/relationships/slide" Target="slides/slide259.xml"/><Relationship Id="rId271" Type="http://schemas.openxmlformats.org/officeDocument/2006/relationships/slide" Target="slides/slide260.xml"/><Relationship Id="rId272" Type="http://schemas.openxmlformats.org/officeDocument/2006/relationships/slide" Target="slides/slide261.xml"/><Relationship Id="rId273" Type="http://schemas.openxmlformats.org/officeDocument/2006/relationships/slide" Target="slides/slide262.xml"/><Relationship Id="rId274" Type="http://schemas.openxmlformats.org/officeDocument/2006/relationships/slide" Target="slides/slide263.xml"/><Relationship Id="rId275" Type="http://schemas.openxmlformats.org/officeDocument/2006/relationships/slide" Target="slides/slide264.xml"/><Relationship Id="rId276" Type="http://schemas.openxmlformats.org/officeDocument/2006/relationships/slide" Target="slides/slide265.xml"/><Relationship Id="rId277" Type="http://schemas.openxmlformats.org/officeDocument/2006/relationships/slide" Target="slides/slide266.xml"/><Relationship Id="rId278" Type="http://schemas.openxmlformats.org/officeDocument/2006/relationships/slide" Target="slides/slide267.xml"/><Relationship Id="rId279" Type="http://schemas.openxmlformats.org/officeDocument/2006/relationships/slide" Target="slides/slide268.xml"/><Relationship Id="rId280" Type="http://schemas.openxmlformats.org/officeDocument/2006/relationships/slide" Target="slides/slide269.xml"/><Relationship Id="rId281" Type="http://schemas.openxmlformats.org/officeDocument/2006/relationships/slide" Target="slides/slide270.xml"/><Relationship Id="rId282" Type="http://schemas.openxmlformats.org/officeDocument/2006/relationships/slide" Target="slides/slide271.xml"/><Relationship Id="rId283" Type="http://schemas.openxmlformats.org/officeDocument/2006/relationships/slide" Target="slides/slide272.xml"/><Relationship Id="rId284" Type="http://schemas.openxmlformats.org/officeDocument/2006/relationships/slide" Target="slides/slide273.xml"/><Relationship Id="rId285" Type="http://schemas.openxmlformats.org/officeDocument/2006/relationships/slide" Target="slides/slide274.xml"/><Relationship Id="rId286" Type="http://schemas.openxmlformats.org/officeDocument/2006/relationships/slide" Target="slides/slide275.xml"/><Relationship Id="rId287" Type="http://schemas.openxmlformats.org/officeDocument/2006/relationships/slide" Target="slides/slide276.xml"/><Relationship Id="rId288" Type="http://schemas.openxmlformats.org/officeDocument/2006/relationships/slide" Target="slides/slide277.xml"/><Relationship Id="rId289" Type="http://schemas.openxmlformats.org/officeDocument/2006/relationships/slide" Target="slides/slide278.xml"/><Relationship Id="rId290" Type="http://schemas.openxmlformats.org/officeDocument/2006/relationships/slide" Target="slides/slide279.xml"/><Relationship Id="rId291" Type="http://schemas.openxmlformats.org/officeDocument/2006/relationships/slide" Target="slides/slide280.xml"/><Relationship Id="rId292" Type="http://schemas.openxmlformats.org/officeDocument/2006/relationships/slide" Target="slides/slide281.xml"/><Relationship Id="rId293" Type="http://schemas.openxmlformats.org/officeDocument/2006/relationships/slide" Target="slides/slide282.xml"/><Relationship Id="rId294" Type="http://schemas.openxmlformats.org/officeDocument/2006/relationships/slide" Target="slides/slide283.xml"/><Relationship Id="rId296" Type="http://schemas.openxmlformats.org/officeDocument/2006/relationships/slide" Target="slides/slide284.xml"/><Relationship Id="rId297" Type="http://schemas.openxmlformats.org/officeDocument/2006/relationships/slide" Target="slides/slide285.xml"/><Relationship Id="rId300" Type="http://schemas.openxmlformats.org/officeDocument/2006/relationships/slide" Target="slides/slide286.xml"/><Relationship Id="rId301" Type="http://schemas.openxmlformats.org/officeDocument/2006/relationships/slide" Target="slides/slide2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with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C138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30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 application development, AI-assisted (vibe) coding, data analytics and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r>
              <a:rPr sz="1100" b="1">
                <a:latin typeface="Arial"/>
              </a:rPr>
              <a:t>Courses on Python, AI-assisted development, data engineering &amp; software delivery.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 and with AI coding assistants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build and deploy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903720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s-t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1" y="2011679"/>
            <a:ext cx="534009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96128"/>
            <a:ext cx="6903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874519"/>
            <a:ext cx="3520440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21031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Sign in with the email address you used to register for this course.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Download the slides and the Learner Guide at the start of the course.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Keep both open during the labs — the step numbering matches the labs exactly.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Your course materials remain available here after the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Vibe Coding Foundations, Object-Oriented Python &amp; pandas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Vibe Coding Foundations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Object-Oriented Programming in Python (Labs 5–8)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Analytics with pandas begins (Labs 9–10)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pandas, Pydantic &amp; FastAPI, Packaging &amp; Deployment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Analytics with pandas completes (Labs 11–12)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(Labs 13–16)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Packaging and Deployment (Labs 17–20)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9:30am–5:30pm · 30-min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Vibe Coding Is — and What 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Vibe Coding?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AI-assisted, human-owned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specify, the assistant drafts, you review and own the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Specification over guesswork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the goal, constraints, inputs and expected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Verify, never assume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Generated code that runs is not the same as generated code that is correct.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Faster iteration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Refactoring conversationally beats rewriting by hand — with a test to prove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Vibe Coding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1 · 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 the goal precisely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 the constraints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real inputs and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2 ·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Let the assistant draft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every line before running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Ask for the shape you want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Run it against edge cases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error paths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 by naming the defect, not 'improve this'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are accountable for every line you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assistant drafts; you review, test and own the result. That is the difference between vibe coding and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Toolchain for This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Serve &amp;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uv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Project, interpreter and locked dependencies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uv init · uv add · uv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pandas 3.0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DataFrames, cleaning, groupby, rolling windows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Copy-on-Write is the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Pydantic +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Typed models, validation, HTTP endpoints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OpenAPI docs for free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Streamlit + Docker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Analyst UI and a deployable image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image, any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uv manages Python, the virtual environment and the lockfile — no venv activation by hand.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AI coding assistant (Claude, Copilot or Cursor) drafts code you review.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SQLite ships with Python — the database needs no server and runs offline.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builds one application: CardGuard, a card-transaction fraud screening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Vibe coding is directing an AI assistant to write code you specify, review and own — you remain accountable for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 manages the interpreter, virtual environment and locked dependencies: uv init, uv add, uv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prompts state the goal, the constraints, the inputs and the expected output — vague prompts produce plausible but wrong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Always read and run AI-generated code before trusting it; refactoring conversationally is faster than rewriting by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Reproducible Python Project with uv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an AI Coding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Review and Correct AI-Generated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Refactor Working Code Conversationally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uv, creates a project, adds locked dependencies, and runs code through uv so the environment is identical on every machine. This is the foundation every later lab builds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uv project with pyproject.toml, uv.lock and a working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pyproject.toml, uv.lock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uv is installed and check the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--version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new project folder and initialise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what uv generated — note pyproject.toml is the project manifest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ls -a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Inspect what uv generated — note pyproject.toml is the project manifest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Pin the Python version so every learner runs the same interpreter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python pin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dependency — uv resolves, installs and writes uv.lock in one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uv.lock and observe the exact pinned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head -30 uv.lock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uv.lock and observe the exact pinned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pd.DataFrame({"card": ["4111...1111", "5500...0004",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"4111...1111"],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"merchant": ["SG Grocer", "Overseas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ATM", "SG Grocer"],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"amount": [42.90, 800.00, 15.50]})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print(f"Total screened: ${df['amount'].sum():,.2f}")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a first script that proves the dependency is importable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 through uv — no venv activation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reproducibility: delete the venv and restore it from the lockfile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rm -rf .venv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sync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python main.py prints the transaction DataFrame and the screened total. After deleting .venv, uv sync restores it and the script produces identical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contrasts a vague prompt with a specified prompt on the same task, then applies the goal-constraints-inputs-output pattern to generate a function that handles real edge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versions of a transaction risk-scoring function and a written comparison of the prompts that produced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 (Claude / Copilot / Cursor),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from the vague prompt and record exactly what you get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function to score a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Start from the vague prompt and record exactly what you get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generated code critically — list what it assumed. Typical gaps: what counts as high value, whether an overseas merchant matters, what the score range is, what happens for a negative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Rewrite the prompt using the four-part pattern — goal, constraints, inputs,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Python function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 that returns a risk score from 0 to 100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reasons that contributed to it. Add 40 points when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amount exceeds $500, 30 points when the merchant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overseas, and 20 points when the hour is between 1am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5am. Cap the score at 100. Raise ValueError for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negative amount or an hour outside 0-23. Return the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a list of reason strings.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Rewrite the prompt using the four-part pattern — goal, constraints, inputs, 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scoring.py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a 0-100 risk score for one transaction,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0 &lt;= hour &lt;= 23: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ValueError("hour must be between 0 and 23")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HIGH_VALUE = 500.00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score, reasons = 0,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HIGH_VALUE: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reasons.append("high value")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is_overseas: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reasons.append("overseas merchant")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1 &lt;= hour &lt;= 5: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reasons.append("unusual hour")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{"score": min(score, 100), "reasons": reasons}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improved result and read every line before running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Test the boundaries the prompt specified — this is where generated code usually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print(score_transaction(42.90, False, 14))   # low risk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print(score_transaction(800.00, True, 3))    # every 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fires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print(score_transaction(500.00, False, 14))  # exactly on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error paths actually raise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score_transaction(-100, False, 14)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two sentences in your notes: which prompt produced code you would ship,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specified prompt produces a function that caps the score at 100, fires each rule independently, and raises ValueError on invalid input. The learner can state why the vague prompt was insufficient.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is given a plausible but subtly wrong implementation, finds the defects by testing rather than by reading alone, and corrects them. This lab establishes that the developer, not the assistant, owns correctness.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corrected discount calculator plus a short defect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this generated function exactly as written — it looks reasonable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apply_discount(price, tier):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tier == "gold":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"silver":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"bronze":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Probe it with the values a real order system would send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None))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print(apply_discount(-50,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Record the defects you found: case sensitivity, no validation of price, unrounded currency, silent fallthrough on an unknown tier, and no type hints.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the assistant to fix the specific defects — name them, do not say 'improve this'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Fix these defects in apply_discount: 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tier matching must be case-insensitive, (2)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ValueError for a negative price, (3) raise ValueError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 unrecognised tier instead of silently returning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full price, (4) round the result to 2 decimal places, (5)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add type hints and a docstring.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the corrected version line by line before accepting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DISCOUNTS = {"gold": 0.20, "silver": 0.10, "bronze": 0.05}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apply_discount(price: float, tier: str)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the price after applying the tier discount."""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price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ValueError("price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key = (tier or "").strip().lower()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key not in DISCOUNTS: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ValueError(f"unknown tier: {tier!r}")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round(price * (1 - DISCOUNTS[key]),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Re-run every probe that previously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[(-50, 'gold'), (100, 'platinum'), (100, None)]: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apply_discount(*bad)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print('NOT CAUGHT:', 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the first version ran without error on the happy path. Running is not the same as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defects are fixed and demonstrated by tests. The learner can explain why reading alone did not reveal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takes a working but poorly structured script, establishes a behavioural baseline, refactors it into small testable functions with AI assistance, and proves the output is unchanged.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refactored sales summary script with an unchanged, verified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totals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o["status"] == "paid":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o["region"] not in totals: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totals[o["region"]]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totals[o["region"]] += o["amount"]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sorted(totals):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print(f"{r}: ${totals[r]:,.2f}")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print(f"TOTAL: ${sum(totals.values()):,.2f}")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Capture the baseline output to a file — this is the contract the refactor must preserve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baseline.txt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baseline.txt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for a structural refactor and state explicitly that behaviour must not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Refactor sales_report.py into three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functions — filter_paid(orders), total_by_region(orders)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format_report(totals) — plus a main() guarded by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__name__ == '__main__'. Add type hints. The printed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output must be byte-for-byte identical to the current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for a structural refactor and state explicitly that behaviour must not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Iterable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 = dict[str, object]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ORDERS: list[Order]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filter_paid(orders: Iterable[Order]) -&gt; list[Order]: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only the orders with status 'paid'."""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[o for o in orders if o["status"] == "paid"]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total_by_region(orders: Iterable[Order]) -&gt; dict[str,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float]: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"""Sum order amounts grouped by region."""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totals: dict[str, float] = {}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region = str(o["region"])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totals[region] = totals.get(region, 0.0)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float(o["amount"])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totals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format_report(totals: dict[str, float])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"""Render the per-region totals and the grand total."""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 = [f"{r}: ${totals[r]:,.2f}"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sorted(totals)]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lines.append(f"TOTAL: ${sum(totals.values()):,.2f}")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"\n".join(lines)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print(format_report(total_by_region(filter_paid(ORDERS))))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behaviour is unchanged by diffing against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after.txt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diff baseline.txt after.txt &amp;&amp; echo 'IDENTICAL — refactor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safe'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Now that the logic is in functions, test one piece in isolation — impossible before the refactor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sales_report import total_by_region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[{'region': 'North', 'amount': 100.0,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'paid'},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{'region': 'North', 'amount': 50.0, 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'paid'}]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assert total_by_region(rows) == {'North': 150.0}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print('unit test passed')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sequence that makes refactoring safe: baseline first, refactor second, diff third.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diff reports no difference between baseline.txt and after.txt, and total_by_region can be unit-tested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run a Python project using uv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prompting patterns that produce correct, reviewable code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Identify and fix defects in code produced by an AI assistant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an AI assistant to restructure code without changing its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class bundles data (attributes) with the behaviour that operates on it (methods); an object is one instance of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Encapsulation hides internal state behind methods and properties so callers depend on behaviour, not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Inheritance models 'is-a' and shares behaviour; composition models 'has-a' and is usually the more flexible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Dunder methods (__init__, __repr__, __eq__) integrate your classes with Python's built-in operators and printing.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a Domain with Classes and Dunder Methods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Encapsulate State with Properties and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Rule Hierarchy with Inheritance and Polymorphism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Compose Rules into an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loose dictionaries with a Transaction class, adds __init__, __repr__ and __eq__, and sees why a class is easier to reason about than a dict once behaviour is attached to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Transaction class with construction, printing, equality and derived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dataclasses,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project and generate the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cp ../mockdata.py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mockdata.py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Look at the raw shape of the data you are about to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card transaction presented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hour(self)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"""Hour of day, 0-23 — used by the unusual-hour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self.ts.hour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is_high_risk_category(self) -&gt; bool: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self.merchant_category in {"crypto_exchange",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 "jewellery"}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__repr__(self)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(f"Transaction(id={self.id},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card={self.card_ref},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f"${self.amount:,.2f},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{self.merchant_category}, {self.city})")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constructor that builds a Transaction from a database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from_row(cls, row: tuple) -&gt; "Transaction":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"""Build a Transaction from a sqlite row tuple."""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cls(id=row[0], card_ref=row[1],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ts=datetime.fromisoformat(row[2]),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amount=row[3], merchant_category=row[4],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city=row[5],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lat=row[6], lon=row[7])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rows through the class and print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 = Transaction.from_row(r)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print(t, '| hour', t.hour, '| high risk',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t.is_high_risk_category)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@dataclass gave you equality for free — dicts compare by content, objects normally by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print('equal:', a ==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print('same object:', a is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gain: hour and is_high_risk_category live WITH the data. With dicts, that logic would be scattered across every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Transaction.from_row builds objects from the database, __repr__ prints readably, __eq__ compares by value, and the derived properties return correct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Cardholder class whose running spend baseline cannot be corrupted from outside, using private attributes, a read-only property and validation in the setter.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Cardholder class with a protected baseline and a validated update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cardholder.py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card account with a running spend baseline used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anomaly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card_ref: str, name: str, home_city: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str, typical_amount: float):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typical_amount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ValueError("typical_amount 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self.card_ref = card_ref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self.home_city = home_city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typical_amount   # leading _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internal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typical_amount(self)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"""Read-only view of the baseline — callers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assign to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round(self._typical_amount,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observed_count(self)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self._observed_count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observe(self, amount: float)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"""Fold one new transaction into the running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weight = 1 / min(self._observed_count, 30)   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rolling, recency-weighted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(1 - weight)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self._typical_amount + weight * 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deviation_factor(self, amount: float)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"""How many times the baseline this amount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represents."""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round(amount / self._typical_amount,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baseline cannot be overwritten from outside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ch.typical_amount = 999999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AttributeError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Drive the baseline the sanctioned way and watch it 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[110, 130, 125, 118, 122]: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ch.observe(amt)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print('baseline', ch.typical_amount, 'after',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ch.observed_count, 'observations')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print('a $2,400 charge is', ch.deviation_factor(2400), 'x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baseline')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validation rejects bad input at both entry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[lambda: Cardholder('C','n','SG',0), lambda: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Cardholder('C','n','SG',120).observe(-5)]: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bad(); print('NOT CAUGHT')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cardholders').fetchall()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chs = [Cardholder(*r)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sorted(chs, key=lambda c: c.typical_amount,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reverse=True)[:5]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c in top: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print(f'{c.card_ref} {c.name:&lt;16}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EEAD4"/>
                </a:solidFill>
                <a:latin typeface="Consolas"/>
              </a:rPr>
              <a:t>      ${c.typical_amount:,.2f}')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the real cardholders and rank them by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why this matters for fraud: if any caller could assign typical_amount directly, an attacker-controlled input path could raise the baseline until nothing looks anomalous.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Assigning to typical_amount raises AttributeError; observe() updates the baseline; both constructors and observe() reject invalid values; the 5 highest baselines print from the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defines an abstract FraudRule base class and implements four concrete rules. Each rule scores a transaction differently but presents an identical interface, so the caller never needs to know which rule it 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abstract FraudRule plus AmountDeviationRule, UnusualHourRule, HighRiskCategoryRule and VelocityRule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abc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rules.py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abc import ABC, 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rule's verdict on one transaction."""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         # 0.0 (clean) .. 1.0 (certain)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FraudRule(ABC):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class: every rule scores a transaction from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to 1.0."""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weight: float = 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name(self)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self.__class__.__name__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history: list[Transaction]) -&gt; RuleResult: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"""Return this rule's verdict. Must be implemented by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every subclass."""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abstract class cannot be instantiated — the contract is enforced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FraudRule()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TypeError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AmountDeviationRule(FraudRule):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spend far above this cardholder's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alert_factor: float = 8.0):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self.alert_factor = alert_factor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factor = holder.deviation_factor(txn.amount)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min(factor / self.alert_factor, 1.0) if factor 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f"${txn.amount:,.2f} is {factor}x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the ${holder.typical_amount:,.2f} baseline")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the amount-deviation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UnusualHourRule(FraudRule):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activity outside the cardholder's normal waking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0.8 if txn.hour in {0, 1, 2, 3, 4, 5}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f"transaction 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{txn.hour:02d}:00")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HighRiskCategoryRule(FraudRule):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merchant categories with elevated chargeback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rates."""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RISK = {"crypto_exchange": 0.9, "gift_cards": 0.8,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"jewellery": 0.6, "online_gaming": 0.5}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self.RISK.get(txn.merchant_category, 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f"category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{txn.merchant_category}")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timedelta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VelocityRule(FraudRule):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many transactions inside a short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window_minutes: int = 10,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 = 4):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self.window = timedelta(minutes=window_minutes)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recent = [h for h in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if 0 &lt;= (txn.ts - h.ts).total_seconds() &lt;=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self.window.total_seconds()]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n = len(recent) + 1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min((n - 1) / self.threshold, 1.0) if n &gt; 1 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f"{n} transactions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{self.window.seconds // 60} minutes")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the velocity rule — it needs history, which the shared interface already provides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chr_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 (txn.card_ref,)).fetchone()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Cardholder(*chr_)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rules = 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print(txn)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 = r.score(txn,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{res.rule_name:&lt;24} {res.score:&gt;5}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{res.reason}')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Call every rule through the SAME interface — this is polymorphism doing real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what inheritance bought: adding a fifth rule requires no change to any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FraudRule cannot be instantiated; all four rules implement score() and return a RuleResult; a known-fraud transaction produces non-zero scores from the relevant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RuleEngine that HAS-A list of rules rather than inheriting from any of them, producing a weighted composite score with a full explanation of every contributing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RuleEngine returning a ScreeningResult with a composite score and per-rule reasons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engine.py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dataclass, field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FraudRule, RuleResult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engine's decision, with every reason that produced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txn_id: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results: list[RuleResult] = field(default_factory=list)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explain(self)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head = (f"Transaction {self.txn_id}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({self.card_ref}):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f"score {self.composite_score}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f"{'FLAGGED' if self.flagged else 'clean'}")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lines = [f"    - {r.rule_name} {r.score} ::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{r.reason}"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for r in self.results if r.score &gt;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"\n".join([head, *lines])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RuleEngine: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"""Composes independent rules into one 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decision."""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rules: list[FraudRule],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float = 0.55):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not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ValueError("at least one rule 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self.rules =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screen(self,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history: list[Transaction]) -&gt; ScreeningResult: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results = [r.score(txn, holder, history)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total_weight = sum(r.weight for r in self.rules)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sum(res.score * rule.weight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for res, rule in zip(results,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self.rules)) / total_weight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round(composite, 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ScreeningResult(txn.id, txn.card_ref,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 composite &gt;= self.threshold,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the engine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Screen a known-fraud transaction and read the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con.execute("SELECT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is_known_fraud=0 AND merchant_category='grocery'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1").fetchone()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Screen a normal transaction and confirm it stays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Reconfigure the engine WITHOUT touching any rule class — composition in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HighRiskCategoryRule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strict = RuleEngine([AmountDeviationRule(alert_factor=4.0),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HighRiskCategoryRule()], threshold=0.35)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print('rules:', [r.name for r in strict.rules], 'threshold:',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strict.threshold)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AI assistant to add a fifth rule and confirm the engine needs no 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Add a RoundAmountRule to rules.py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subclasses FraudRule with weight 0.4 and returns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0.5 when the transaction amount is an exact multiple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100, since round-number testing charges are a common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card-testing signal. Do not modify RuleEngine.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AI assistant to add a fifth rule and confirm the engine needs no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design principle: inheritance shares WHAT rules are; composition decides WHICH rules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engine flags the known-fraud transaction with a readable explanation, leaves a grocery transaction clean, and can be reconfigured with different rules and thresholds without editing any rule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Define classes that bundle data with behaviour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Protect object state behind a controlled interface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Share behaviour through a base class and override it per rule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composition to assemble behaviour from independent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Analytics with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DataFrame is a labelled 2-D table; a Series is one column. Most analytics is selecting, filtering and reshaping these.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 data is dirty: missing values, wrong dtypes and duplicates must be handled explicitly before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split-apply-combine (groupby then aggregate) answers most business questions about a dataset.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analytics pipeline should be a set of small, testable functions — not one long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 and Explore Transactions with pandas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Handle Errors with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Per-Cardholder Baselines with GroupBy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Detect Velocity Bursts with Rolling Time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loads the transaction table into pandas, inspects dtypes and null counts, and produces a first profile of spending — the step every analytics task starts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loaded, correctly-typed transactions DataFrame plus a spend profile by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pandas and load the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print(df.shape)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dtypes — note ts arrived as text, not datetime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print(df.dtypes)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print(df.isna().sum())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 with correct dtypes."""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          # always closes, even if 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query raises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df["merchant_category"]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df["merchant_category"].astype("category")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df["date"] = df["ts"].dt.date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a loader that fixes the types once, so no downstream code has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Profile spend by merchant category — split-apply-combine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profile = (df.groupby('merchant_category',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observed=True)['amount']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.agg(['count', 'sum', 'mean', 'max']).round(2)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.sort_values('sum', ascending=False))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print(profile)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Answer a real business question: which hours carry the most spend?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by_hour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df.groupby('hour')['amount'].agg(['count','sum']).round(2)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print(by_hour.tail(8))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print('\novernight share:',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round(100*df[df.hour&lt;6]['amount'].sum()/df['amount'].sum(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),2),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 the pandas 3.0 Copy-on-Write behaviour that AI assistants get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pd.DataFrame({'a':[1,2,3],'b':[10,20,30]})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pandas 1.x idiom an assistant will often generate: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df[df.a &gt; 1]['b']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   # unchanged under Copy-on-Write — the write went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to a temporary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correct form: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df.loc[df.a &gt; 1, 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verify generated pandas against your installed version, not against a tutorial.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load_transactions returns 10,851 rows with ts as datetime64; the category profile and hourly breakdown print; the learner can state why chained assignment silently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makes the loader robust: catching the specific failures that actually occur, defining a custom exception hierarchy for the domain, and guaranteeing cleanup with finally. A screening service that crashes on one bad row fails open — this lab prevents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domain exception hierarchy plus a validated, fail-safe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pandas, sqlite3, Python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CardGuardError(Exception):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 for every CardGuard failure — callers can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catch this one type."""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DataSourceError(CardGuardError):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transaction store could not be read."""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ValidationError(CardGuardError):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transaction failed validation before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field: str, value, message: str):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self.field, self.value = field, 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super().__init__(f"{field}={value!r}: {message}")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RuleExecutionError(CardGuardError):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scoring rule raised while screening a transaction."""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(updated)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transactions, raising DataSourceError on any read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failure."""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Path(db_path).exists():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DataSourceError(f"database not found: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{db_path}")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sqlite3.DatabaseError as exc: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DataSourceError(f"could not read {db_path}: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{exc}") from exc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df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con is not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con.close()      # runs on success AND on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Catch the SPECIFIC errors that happen, and translate them to domain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each failure path raises the right domain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load_transactions('no_such.db')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print('missing file -&gt;',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open('corrupt.db','wb').write(b'not a database at all')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load_transactions('corrupt.db')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print('corrupt file -&gt;', type(e).__name__)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validate.py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VALID_CATEGORIES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validate_txn(record: dict)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"""Raise ValidationError on the first problem found."""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record.get("amount")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is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isinstance(amount, (int, float)):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numeric")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1_000_000: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"exceeds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maximum single charge")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 = record.get("merchant_category")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cat not in VALID_CATEGORIES: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ValidationError("merchant_category", cat, "is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not a known 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validate import validate_txn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batch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120.0,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-5.0,  'merchant_category': 'fuel'},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'abc',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90.0,  'merchant_category': 'casino'},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45.0,  'merchant_category': 'transport'},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ok, rejected = [],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rec in enumerate(batch):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ok.append(validate_txn(rec))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rejected.append((i, str(e)))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print(f'accepted {len(ok)}, rejected {len(rejected)}')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msg in rejected: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row {i}: {msg}')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a batch where some records are bad — the batch must NOT die on the first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ANTI-PATTERN: never do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except:              # catches everything, including typos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KeyboardInterrupt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print('silently wrong:', result)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Correct: name the exception you expect and can handle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ZeroDivisionError as 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print('handled explicitly:',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Contrast with the anti-pattern — a bare except hides the bug you needed to 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add a rule-level guard so one broken rule cannot stop a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In RuleEngine.screen, wrap each rule call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try/except so that if one rule raises, the 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records a RuleExecutionError message on the result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continues scoring with the remaining rules. Never use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bare except.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assistant to add a rule-level guard so one broken rule cannot stop a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Missing and corrupt databases raise DataSourceError; the 5-record batch accepts 2 and rejects 3 with field-level messages; the learner can explain why bare except is unsafe.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computes each cardholder's own spending baseline and deviation for every transaction — the statistical foundation the AmountDeviationRule needs, done for 40 cardholders at once instead of one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per-cardholder baseline table and a deviation column on every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one baseline per cardholder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base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df.groupby('card_ref')['amount'].agg(['count','mean',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'median','std']).round(2)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print(base.head())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print('cardholders:', len(base))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Join each transaction to its cardholder baseline with transform — same shape as the 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add_deviation(df):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"""Attach each transaction's deviation from its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cardholder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df["baseline"]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df.groupby("card_ref")["amount"].transform("median")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df["dev_factor"] = (df["amount"]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df["baseline"]).round(2)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biggest deviations and check them against the seeded fraud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df.nlargest(10,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'dev_factor')[['id','card_ref','amount','baseline',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'dev_factor','merchant_category','is_known_fraud']]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print(top.to_string(index=False))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print('\nof the top 10 deviations,',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int(top.is_known_fraud.sum()), 'are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Measure how well deviation alone separates fraud from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print(df.groupby('is_known_fraud')['dev_factor'].describe(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).round(2)[['count','mean','50%','max']])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median not mean for the baseline — prove why with an outlier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 = pd.Series([100,110,95,105,20000])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print('mean  ', round(s.mean(),2), '&lt;- dragged up by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fraud itself')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print('median', round(s.median(),2), '&lt;- robust to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outlier')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analytics lesson: the statistic you choose changes what you can detect.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Baselines compute for all 40 cardholders; dev_factor is attached to every row; the top deviations are dominated by seeded fraud; the learner can justify median over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sorts transactions per cardholder and counts how many occur inside a rolling 10-minute window — the history the VelocityRule needs, which cannot be computed one transaction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txn_count_10min column plus the burst transactions it exposes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rolling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Sort by cardholder and time — order is a precondition for any window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add_velocity(df, window: str = "10min"):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"""Count transactions per cardholder inside a rolling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counts = (df.set_index("ts")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.groupby("card_ref")["amount"]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.rolling(window).count()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.reset_index(name="txn_count_10min"))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df.merge(counts, on=["card_ref", "ts"], how="left")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bursts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bursts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print('burst transactions:', len(bursts))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print(bursts[['card_ref','ts','amount','merchant_category',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'txn_count_10min','is_known_fraud']].head(12).to_string(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hit rate of velocity as a signal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print(f'{int(b.is_known_fraud.sum())} of {len(b)} burst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transactions 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print('precision:', round(100*b.is_known_fraud.mean(),1),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one full burst to see the pattern a fraudster leaves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df[df.txn_count_10min &gt;= 5].card_ref.iloc[0]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win = df[df.card_ref == card].nlargest(8,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'txn_count_10min')[['ts','amount','merchant_category',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print(f'card {card}');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print(win.sort_values('ts').to_string(index=False))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add_geo_velocity(df):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"""Implied travel speed (km/h) between consecutive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transactions."""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g = df.groupby("card_ref")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lat1, lon1 = np.radians(g["lat"].shift()),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np.radians(g["lon"].shift())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lat2, lon2 = np.radians(df["lat"]), np.radians(df["lon"])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dlat, dlon = lat2 - lat1, lon2 - lon1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 = np.sin(dlat/2)**2 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np.cos(lat1)*np.cos(lat2)*np.sin(dlon/2)**2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km = 6371 * 2 * np.arcsin(np.sqrt(a))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hours = g["ts"].diff().dt.total_seconds() / 3600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df["implied_kmh"] = (km / hours.replace(0,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np.nan)).round(1)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Compute the geographic-impossibility signal the engine is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physically impossible journeys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add_geo_velocity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add_geo_velocity(load_transactions())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 = df[df.implied_kmh &gt; 1000]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print('impossible journeys:', len(imp))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print(imp[['card_ref','ts','city','amount','implied_kmh',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'is_known_fraud']].to_string(index=False))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Note: velocity and geography are only visible ACROSS rows. Row-at-a-time scoring cannot see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Velocity bursts and impossible journeys are both detected, dominated by seeded fraud, and the learner can explain why these signals require sorted per-group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Read SQL into a DataFrame and profile 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try/except/else/finally and raise meaningful custom exceptions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Compute per-group statistics with split-apply-combine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Analyse ordered time-series data per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Pydantic models declare the shape of data with Python type hints and validate it at runtime, failing fast on bad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FastAPI turns typed Python functions into HTTP endpoints, deriving validation and OpenAPI docs from the annotations.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request models from response models so the API contract is explicit and safe to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analytics layer stays plain Python; FastAPI is a thin transport layer over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Replace Hand-Written Validation with Pydantic Models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Expose the Screening Engine as a FastAPI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Persist Screening Decisions to SQLite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API with pytest and httpx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the manual validate_txn() from Topic 3 with a Pydantic model, getting type coercion, field constraints and structured error reporting for free — far less code, far better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TransactionIn and ScreeningOut Pydantic models with field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Pydantic to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Literal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BaseModel, Field, field_validator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Literal["grocery","fuel","restaurant","electronics",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TransactionIn(BaseModel):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transaction submitted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 = Field(pattern=r"^CH\d{4}$",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description="Cardholder reference")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 = Field(gt=0, le=1_000_000,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description="Charge amount in SGD")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CATEGORIES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 = Field(min_length=2, max_length=64)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 = Field(ge=-90, le=90)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 = Field(ge=-180, le=180)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@field_validator("city")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title_case_city(cls, v: str)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v.strip().title()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Compare against Topic 3 — one model replaces the whole hand-written validator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good = TransactionIn(card_ref='CH0001',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ts='2026-04-15T02:14:00', amount=4820.50,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merchant_category='jewellery',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city='singapore', lat=1.3521, lon=103.8198)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print(good)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print('city normalised to:', good.city)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print('ts coerced to:', type(good.ts).__name__)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a validation failure — Pydantic reports EVERY problem, not just the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TransactionIn(card_ref='BAD', ts='not-a-date', amount=-5,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merchant_category='casino', city='X',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lat=999, lon=0)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err in e.errors():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print(f\"  {'.'.join(str(x) for x in err['loc']):&lt;20}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{err['msg']}\")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RuleHit(BaseModel):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ScreeningOut(BaseModel):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"""What the screening service returns."""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decision: Literal["approve", "review", "decline"]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hits: list[RuleHit]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errors: list[str]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Define the response model separately — request and response are different 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Serialise to JSON — the wire format comes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out = ScreeningOut(card_ref='CH0023', composite_score=0.933,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flagged=True, decision='decline',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hits=[RuleHit(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rule_name='AmountDeviationRule',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score=1.0, reason='26.89x baseline'),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RuleHit(rule_name='UnusualHourRule',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score=0.8, reason='02:00')])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print(out.model_dump_json(indent=2))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 = bad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con.execute('SELECT * FROM transactions LIMIT 500'):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TransactionIn(**{k: r[k] for k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('card_ref','ts','amount',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'merchant_category','city','lat','lon')})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print(f'validated {ok}, rejected {bad}')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real database rows THROUGH the model to catch any dirty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trade: hand-written validation is explicit but verbose; Pydantic is declarative and reports all errors at once.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Valid input constructs and normalises; invalid input reports every field error; ScreeningOut serialises to JSON; 500 real rows validate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wraps the Topic 2 RuleEngine in a FastAPI POST endpoint. The engine is not modified at all — FastAPI is a thin transport layer over logic that already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API with POST /screen, GET /health and automatic OpenAPI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FastAPI, uvicorn, 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web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fastapi uvicorn[standard]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 import FastAPI, HTTPException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TransactionIn,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app = FastAPI(title="CardGuard Screening API",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version="1.0.0")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ENGINE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get_holder(card_ref: str) -&gt;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sqlite3.connect("cardguard.db")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 = con.execute("SELECT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card_ref,name,home_city,typical_amount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"FROM cardholders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card_ref=?", (card_ref,)).fetchone()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 is None: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HTTPException(status_code=404, detail=f"unknown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 {card_ref}")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Cardholder(*row)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0.80: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0.55: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@app.get("/health")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health()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@app.post("/screen", response_model=ScreeningOut)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screen(txn_in: TransactionIn) -&gt; ScreeningOut: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"""Score one transaction and return the decision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holder = get_holder(txn_in.card_ref)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 = Transaction(id=0, card_ref=txn_in.card_ref,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ts=txn_in.ts,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amount=txn_in.amount,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merchant_category=txn_in.merchant_category,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city=txn_in.city, lat=txn_in.lat,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lon=txn_in.lon)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ENGINE.screen(txn,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ScreeningOut(card_ref=result.card_ref,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composite_score=result.composite_score,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flagged=result.flagged,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decision=decide(result.composite_score),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hits=[RuleHit(rule_name=r.rule_name,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score=r.score, reason=r.reason)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for r in result.results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r.score &gt; 0],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errors=result.errors)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the application — note how little code the endpoint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the auto-generated interactive docs — you wrote no OpenAPI spec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http://127.0.0.1:8000/docs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clearly fraudulent transaction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grocery run and compare the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'{"card_ref":"CH0001","ts":"2026-04-15T10:30:00",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"amount":86.40,"merchant_category":"grocery",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invalid input — FastAPI rejects it with 422 before your code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'{"card_ref":"NOPE","ts":"2026-04-15T10:30:00",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"amount":-5,"merchant_category":"casino","city":"S",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"lat":1.35,"lon":103.8}'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an unknown card and confirm the 404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-i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'{"card_ref":"CH9999","ts":"2026-04-15T10:30:00",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"city":"Singapore","lat":1.35,"lon":103.8}' | head 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 /health returns ok; the fraud transaction returns decline with reasons; the grocery transaction returns approve; bad input returns 422; an unknown card returns 404.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adds a repository layer that records every screening decision, so the service builds an audit trail — a regulatory requirement for real fraud systems, and the data the Topic 5 dashboard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screenings table plus a repository module with save and query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sqlite3,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contextlib import 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DB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connect(db_path: str = DB):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"""Connection that always commits or rolls back,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always closes."""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yield con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con.commit()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Exception: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con.rollback()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init_schema(db_path: str = DB)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CREATE TABLE IF NOT EXISTS screenings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id INTEGER PRIMARY KEY AUTOINCREMENT,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card_ref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ts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amount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merchant_category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composite_score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decision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hits_json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screened_at TEXT NOT NULL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(datetime('now')))""")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con.execute("CREATE INDEX IF NOT EXISTS idx_scr_card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ON screenings(card_ref)")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save_screening(txn_in, result, db_path: str = DB)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"""Record one decision; returns the new row id."""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cur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"INSERT INTO screenings (card_ref, ts, 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merchant_category,"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 composite_score, decision, hits_json)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(?,?,?,?,?,?,?)",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(txn_in.card_ref, txn_in.ts.isoformat(),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result.composite_score, result.decision,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json.dumps([h.model_dump() for h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result.hits])))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cur.lastrowid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recent_screenings(limit: int = 20, db_path: str = DB)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list[dict]: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* FROM screenings ORDER BY id DESC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?", (limit,)).fetchall()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[dict(r)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decision_counts(db_path: str = DB) -&gt; dict[str, int]: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decision, COUNT(*) n FROM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GROUP BY decision").fetchall()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{r["decision"]: r["n"] for r in rows}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save and query functions — parameterised, never string-formatted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Show why parameterised queries matter — the injection an f-string would 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\"CH0001'; DROP TABLE screenings; --\"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print('UNSAFE would build:')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print(f\"  SELECT * FROM screenings WHERE card_ref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'{card}'\")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print('SAFE passes the value separately: con.execute(sql,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(card,))')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repository import init_schema, save_screening,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recent_screenings, decision_counts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@app.on_event("startup")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_startup()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inside screen(), just before returning: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    save_screening(txn_in, 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list_screenings(limit: int = 20) -&gt; list[dict]: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"""Recent decisions, newest first — the audit trail."""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recent_screenings(limit)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@app.get("/stats")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stats()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"""Decision counts for the dashboard."""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decision_counts()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Restart and post several transactions to build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86.40 5128.33 240.00 3900.00; 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"Content-Type: application/json"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"{\"card_ref\":\"CH0001\",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\"ts\":\"2026-04-15T02:30:00\",\"amount\":$amt,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\"merchant_category\":\"electronics\",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\"city\":\"Singapore\",\"lat\":1.3521,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\"lon\":103.8198}" &gt; /dev/null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and post several transactions to build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audit trail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'http://127.0.0.1:8000/screenings?limit=5' | python3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repository as repo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repo.init_schema()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before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repo.connect()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con.execute('INSERT INTO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(card_ref,ts,amount,merchant_category,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composite_score,decision,hits_json)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VALUES (?,?,?,?,?,?,?)',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('CH0001','2026-04-15T10:00:00',50.0,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'grocery',0.1,'approve','[]'))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RuntimeError('simulated failure after insert')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RuntimeError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print('caught:',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after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print(f'rows before {before}, after {after} -&gt; rolled back: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{before == after}')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Screenings persist and are queryable via /screenings and /stats; the injection demo shows why parameters are used; the rollback test proves the row count is unchanged after a mid-transaction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test suite covering the happy path, validation failures and persistence — so that later refactoring and deployment changes are provably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passing pytest suite against the screening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pytest, FastAPI TestClient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test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pytest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fastapi.testclient import TestClient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main import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client = TestClient(app)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post(**overrides):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{"card_ref": "CH0001",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"2026-04-15T10:30:00", "amount": 86.40,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"merchant_category": "grocery", "city":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"Singapore",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"lat": 1.3521, "lon": 103.8198}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body.update(overrides)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client.post("/screen", json=body)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test_health():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client.get("/health").json() ==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test_normal_transaction_is_approved():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r.status_code == 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r.json()["decision"] ==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test_large_offhours_transaction_is_escalated():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post(amount=5128.33, merchant_category="jewellery",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ts="2026-04-15T02:14:00")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body["decision"] in {"review", "decline"}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body["hits"], "an escalated decision must carry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@pytest.mark.parametrize("bad",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-5},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{"card_ref": "NOPE"},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{"merchant_category": "casino"},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{"lat": 999},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test_invalid_input_is_rejected(bad):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post(**bad).status_code == 422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test_unknown_card_returns_404():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post(card_ref="CH9999").status_code == 404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test_screening_is_persisted():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before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after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after == before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the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what the tests actually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pytest-cov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--cov=. --cov-report=term-missing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write a test for a gap — then verify it FAILS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pytest test asserting that POST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/screen with amount exactly 1000000 succeeds but 1000001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returns 422, matching the Field(le=1_000_000) constraint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TransactionIn.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discipline: a test you have never seen fail is a test you cannot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tests pass; invalid inputs are parameterised and rejected with 422; the persistence test proves a row is written per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Declare data shape with type hints and validate at runtime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Turn typed Python functions into HTTP endpoints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application state to a database from the API layer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automated tests for a FastAPI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Packaging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uv.lock pins exact versions so the application installs identically in development and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Configuration belongs in environment variables, never hard-coded — secrets must never be committed.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container image bundles the interpreter, dependencies and application code into one deployable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deployment is not done until the running service has been verified with a real request against a health endpoint.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17–18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Fraud Analyst Dashboard with Streamlit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Externalise Configuration and Protect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19–20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Lock Dependencies and Containerise the API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Full Stack with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the third tier: a Streamlit dashboard a fraud analyst actually uses — review queue, screening form and trend charts — calling the FastAPI service rather than reaching into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Streamlit dashboard with live screening, a review queue and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Streamlit, FastAPI, httpx,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streamlit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httpx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st.secrets.get("api_url", "http://127.0.0.1:8000")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st.set_page_config(page_title="CardGuard",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page_icon="\U0001F6E1", layout="wide")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st.title("CardGuard — Fraud Screening Console")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st.sidebar: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st.header("Screen a transaction")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 = st.text_input("Card reference", "CH0001")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st.number_input("Amount (SGD)", min_value=0.01,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value=86.40, step=10.0)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category = st.selectbox("Merchant category",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["grocery","fuel","restaurant",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"electronics","online_gaming",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 = st.slider("Hour of day", 0, 23,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submitted = st.button("Screen", type="primary")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submitted: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payload = {"card_ref": card_ref,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f"2026-04-15T{hour:02d}:30:00",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"amount": float(amount), "merchant_category":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"city": "Singapore", "lat": 1.3521, "lon":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103.8198}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 = httpx.post(f"{API}/screen", json=payload,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timeout=10)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r.raise_for_status()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out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httpx.HTTPStatusError as exc: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st.error(f"API rejected the request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({exc.response.status_code}): {exc.response.text}")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st.error("Cannot reach the screening API. Is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running on port 8000?")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colour = {"approve": "green", "review": "orange",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"decline": "red"}[out["decision"]]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st.markdown(f"### Decision: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:{colour}[{out['decision'].upper()}]")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st.metric("Composite score", out["composite_score"])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out["hits"]: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st.dataframe(pd.DataFrame(out["hits"]),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width="stretch")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st.info("No rule fired on this transaction.")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st.divider()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left, right = st.columns([2, 1])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 = httpx.get(f"{API}/screenings", params={"limit":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200},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stats = httpx.get(f"{API}/stats",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st.warning("API unavailable — showing no history.")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rows, stats = [],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left: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st.subheader("Recent 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pd.DataFrame(rows)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df["screened_at"] = pd.to_datetime(df["screened_at"])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st.dataframe(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df[["card_ref","amount",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"merchant_category","composite_score",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"decision","screened_at"]],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width="stretch", height=340)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st.info("No screenings yet — submit one from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sidebar.")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right: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st.subheader("Decisions")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stats: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st.bar_chart(pd.Series(stats, name="count"))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 = sum(stats.values())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flagged = stats.get("review", 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stats.get("decline",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st.metric("Flag rate", f"{100 * flagged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total:.1f}%" if total else "—")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both tiers — API in one terminal, UI in another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streamlit run app.py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in the UI and watch it land in the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$5,000 jewellery charge at 02:00 and confirm it turns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Stop the API and confirm the UI degrades gracefully instead of crashing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stop uvicorn (Ctrl-C), then click Screen in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Stop the API and confirm the UI degrades gracefully instead of crashing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architecture: the UI never touches SQLite. Swapping the database would not change app.py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dashboard screens transactions live, colour-codes decisions, lists the review queue and charts decision counts; with the API stopped it shows a clear error rather than a traceback.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every hard-coded value with typed settings loaded from the environment, and ensures secrets can never be committed — the change that makes the same image runnable in dev and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typed Settings object, a .env file and a .gitignore that excludes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pydantic-settings,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every hard-coded value in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grep -rn '127.0.0.1\|8000\|cardguard.db\|0.55\|0.80'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--include='*.py' . | grep -v '.venv'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typed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pydantic-settings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pydantic_settings import BaseSettings, SettingsConfigDict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Settings(BaseSettings):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"""All runtime configuration, validated at startup."""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model_config = SettingsConfigDict(env_file=".env",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env_prefix="CARDGUARD_")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db_path: str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api_url: str = "http://127.0.0.1:8000"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review_threshold: float = 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decline_threshold: float = 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velocity_window_minutes: int =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log_level: str = "INFO"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settings = Settings()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Declare configuration as a validated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.env for local development and EXCLUDE it from git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Create .env for local development and EXCLUDE it from git immediately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gitignore entries BEFORE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.gitignore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.env.*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!.env.example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the gitignore entries BEFORE the first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Commit a .env.example instead, so a new joiner knows what to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.env.example — safe to commit, contains no real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Commit a .env.example instead, so a new joiner knows what to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Replace the hard-coded thresholds with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(replace decide())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settings.decline_threshold: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settings.review_threshold: 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configuration is live — override without editing any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print('default review threshold:',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CARDGUARD_REVIEW_THRESHOLD=0.30 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print('overridden by environment:',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.env is genuinely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check-ignore -v .env &amp;&amp; echo 'SAFE: .env will not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committed'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Settings load from .env; an environment variable overrides them without a code change; git check-ignore confirms .env is excluded; .env.example is committed in its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multi-stage Dockerfile that installs from uv.lock, runs as a non-root user, and produces an image that behaves identically on any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built Docker image running the screening API with a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Docker,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lockfile is current and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lock --check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add uv.lock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 AS builder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Install dependencies first so this layer caches across 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changes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--no-install-project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python:3.12-slim-bookworm AS runtime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useradd --create-home --uid 1000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--from=builder --chown=appuser:appuser /app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 PYTHONUNBUFFERED=1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USER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HEALTHCHECK --interval=30s --timeout=3s --retries=3 \\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CMD python -c "import httpx,sys; sys.exit(0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'http://127.0.0.1:8000/health').status_code==200 else 1)"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["uvicorn", "main:app", "--host", "0.0.0.0", "--port",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"8000"]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Exclude everything the image does not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.dockerignore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.git/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tests/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Exclude everything the image does not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build -t cardguard-api:1.0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size — multi-stage should keep it well under 300MB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images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it, passing configuration as environment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run -d --name cardguard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-p 8000:8000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CARDGUARD_REVIEW_THRESHOLD=0.55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CARDGUARD_LOG_LEVEL=INFO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-v "$(pwd)/cardguard.db:/app/cardguard.db"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container is healthy and answering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ps --filter name=cardguard --format 'table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{{.Names}}\t{{.Status}}'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transaction against the CONTAINER, not your laptop's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logs and confirm it runs as a non-root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logs cardguard --tail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exec cardguard whoami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image builds, runs as appuser, reports healthy, and returns a decline decision for the fraud transaction posted to the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composes the API and the Streamlit UI into one stack with a shared volume and dependency ordering, then verifies the deployment end to end — the final integration of everything built in Topics 1-5.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two-service stack verified with a real screening through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 Compose, FastAPI, Streamlit,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for the UI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8501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["streamlit", "run", "app.py",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"--server.address=0.0.0.0", "--server.port=8501"]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compose.yaml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["8000:8000"]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CARDGUARD_DB_PATH: /data/cardguard.db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CARDGUARD_REVIEW_THRESHOLD: "0.55"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CARDGUARD_DECLINE_THRESHOLD: "0.80"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volumes: ["cardguard-data:/data"]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healthcheck: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test: ["CMD", "python", "-c", "import httpx,sys;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sys.exit(0 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'http://127.0.0.1:8000/health').status_code==2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00 else 1)"]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interval: 10s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timeout: 3s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retries: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ui: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context: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dockerfile: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["8501:8501"]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CARDGUARD_API_URL: http://api:8000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depends_on: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condition: service_healthy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volumes: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cardguard-data: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Compose the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Point the UI at the service name — inside the network it is not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(replace the API constant)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os.getenv("CARDGUARD_API_URL", "http://127.0.0.1:8000")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 the UI at the service name — inside the network it is not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Bring the stack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up --build 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UI waited for the API to become 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logs api --tail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Seed the database inside the running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python mockdata.py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ls -la /data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end to end through the browser — screen a fraudulent charge in the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API tier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data survives a restart — this is what the volume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restart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sleep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Tear down, keeping the data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volume ls | grep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services start, the UI waits for the API health check, a screening submitted in the browser is stored and visible via /stats, and the data survives a container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 data application UI that consumes the API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Move settings out of code into the environment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Package the application into a reproducible image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Run and verify a multi-service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Rebuild CardGuard from scratch on your own machine, using your AI assistant for every step.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Add a new fraud rule and a matching pytest test, then redeploy the container.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Swap SQLite for PostgreSQL — the repository layer is the only module that should change.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Publish your image to a registry and deploy it to a cloud host.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 on your own work: goal, constraints, inputs, expected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Re-run every lab from a clean folder — uv sync restores the exact environment from uv.lock.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Read the Learner Guide alongside your own code; the step numbering matches the labs exactly.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pattern: goal, constraints, inputs, expected output.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Tertiary Infotech practice exams: https://exams.tertiaryinfotech.com/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Complete the short course feedback form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Tell us which labs and prompts helped most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Tell us what we should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your prompts, code and test results for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certificate of completion will be emailed to you after the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KEEP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build, test and deploy a real Python application with AI assistance.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with Python  ·  C138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